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9"/>
  </p:notesMasterIdLst>
  <p:handoutMasterIdLst>
    <p:handoutMasterId r:id="rId20"/>
  </p:handoutMasterIdLst>
  <p:sldIdLst>
    <p:sldId id="383" r:id="rId5"/>
    <p:sldId id="412" r:id="rId6"/>
    <p:sldId id="391" r:id="rId7"/>
    <p:sldId id="397" r:id="rId8"/>
    <p:sldId id="408" r:id="rId9"/>
    <p:sldId id="417" r:id="rId10"/>
    <p:sldId id="409" r:id="rId11"/>
    <p:sldId id="413" r:id="rId12"/>
    <p:sldId id="414" r:id="rId13"/>
    <p:sldId id="410" r:id="rId14"/>
    <p:sldId id="415" r:id="rId15"/>
    <p:sldId id="411" r:id="rId16"/>
    <p:sldId id="416" r:id="rId17"/>
    <p:sldId id="398" r:id="rId18"/>
  </p:sldIdLst>
  <p:sldSz cx="12192000" cy="6858000"/>
  <p:notesSz cx="6858000" cy="9144000"/>
  <p:defaultTextStyle>
    <a:defPPr rtl="0">
      <a:defRPr lang="zh-CN"/>
    </a:defPPr>
    <a:lvl1pPr marL="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作者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6327" autoAdjust="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36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/>
            </a:lvl1pPr>
          </a:lstStyle>
          <a:p>
            <a:pPr rtl="0"/>
            <a:fld id="{F32C39B4-1C2F-46CB-8CDC-53823627074F}" type="datetime1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2026/5/9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" name="幻灯片编号占位符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/>
            </a:lvl1pPr>
          </a:lstStyle>
          <a:p>
            <a:pPr rtl="0"/>
            <a:fld id="{E2C230DF-5933-439D-898F-38E9AC9BA688}" type="slidenum">
              <a:rPr 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页脚占位符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" name="页眉占位符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E526AB7C-14EB-4F76-BC62-F231A270ACC9}" type="datetime1">
              <a:rPr lang="en-US" altLang="zh-CN" smtClean="0"/>
              <a:pPr/>
              <a:t>5/9/2026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zh-CN"/>
            </a:defPPr>
          </a:lstStyle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A89C7E07-3C67-C64C-8DA0-0404F6303970}" type="slidenum">
              <a:rPr lang="en-US" altLang="zh-CN" noProof="0" smtClean="0"/>
              <a:pPr/>
              <a:t>‹#›</a:t>
            </a:fld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6DC4-5E82-599D-75AC-0F1753ED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5B8939-D72C-1A24-93B4-59451B17C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802524-E689-4915-6EB2-858DD23D8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7B959F2E-857E-C2CB-E863-DFD539848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794775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5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A0F49-B99C-7DED-D0BA-472495493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6850BB-65E8-D9A1-558A-5ACA68C99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377832-D826-06F1-C60E-D32E8D09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8E8B441-7963-8F77-7486-F535C942A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7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655863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A2F9-685C-01CD-A8D8-A3E681BA2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5ED719-5B51-1D3B-0940-E0B5987D4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74822E2-3C1C-9D5B-3D6D-D8ABBD72E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1FD03FE6-0F4F-5777-3735-C2AAE0761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8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9758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29E8F-0629-8A27-BCD7-5DBF64BC1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9207D06-4132-84B9-9631-0F2F3FFFD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3D664-DCD8-BA76-1356-F793AA702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89D3F1-7E90-1673-2965-02F4BC59DB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9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314427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9DBEF-8CE1-F229-16C2-9BFE5C741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892243-A146-E30F-2BA4-C788A44FB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D27925-A098-FB25-7940-1545D9688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A522A7-6F30-EBF8-77E0-1549E4ED64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10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755378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B281C-CEBA-BD9E-5E95-680754F90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997BCD-EDC2-4D69-1DF2-2CFD508DD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28A51-F84E-AB48-6966-45691DBD5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FE60AD4-5AF2-C1EE-B495-20F182250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6050455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4428-F043-0080-79D9-B80C6668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6856CE-5354-3689-4F5A-E8C165101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9A3267-8466-7F6E-497D-2920717D9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8A274E0-A950-9BFC-4BC2-231DB15F2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668242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09BAB-6013-CED1-D3DD-51E617D8D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B50E73-4763-9BAC-C7F3-DDF8435AE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74C990-B1FE-8672-BD93-C8214681B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00D8A791-56EF-67CB-0039-6E40CADB95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526246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议程​​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自选图形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8" name="任意多边形(F)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9" name="任意多边形(F)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2" name="标题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 spc="50" baseline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zh-CN" sz="2400" b="1" i="0" kern="1200" dirty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indent="-283464"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2" name="日期占位符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6000" b="1" i="0" baseline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7" name="长方形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dirty="0">
              <a:latin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单击此处添加标题 </a:t>
            </a:r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单击图标以添加图片</a:t>
            </a:r>
          </a:p>
        </p:txBody>
      </p: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/>
              <a:t>单击此处添加文本</a:t>
            </a:r>
          </a:p>
        </p:txBody>
      </p:sp>
      <p:cxnSp>
        <p:nvCxnSpPr>
          <p:cNvPr id="7" name="直接连接符​​(S)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汇总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​​(S)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组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任意多边形(F)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32" name="标题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943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自选图形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8" name="任意多边形(F)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9" name="任意多边形(F)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Font typeface="+mj-lt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zh-CN" sz="2000"/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endParaRPr lang="zh-CN" dirty="0"/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、内容和图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内容和表格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任意多边形(F)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5" name="任意多边形(F)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7" name="任意多边形(F)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4572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9144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8288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格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9" name="表格占位符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94360" y="2628629"/>
            <a:ext cx="10972800" cy="3636740"/>
          </a:xfrm>
        </p:spPr>
        <p:txBody>
          <a:bodyPr rtlCol="0">
            <a:normAutofit/>
          </a:bodyPr>
          <a:lstStyle>
            <a:lvl1pPr>
              <a:defRPr lang="zh-CN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单击图标以添加表格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12" name="标题占位符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zh-CN"/>
            </a:defPPr>
          </a:lstStyle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0" name="日期占位符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0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ea typeface="Microsoft YaHei UI" panose="020B0503020204020204" pitchFamily="34" charset="-122"/>
            </a:endParaRPr>
          </a:p>
        </p:txBody>
      </p:sp>
      <p:sp>
        <p:nvSpPr>
          <p:cNvPr id="32" name="幻灯片编号占位符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294A09A9-5501-47C1-A89A-A340965A2BE2}" type="slidenum">
              <a:rPr lang="en-US" altLang="zh-CN" noProof="0" smtClean="0"/>
              <a:pPr/>
              <a:t>‹#›</a:t>
            </a:fld>
            <a:endParaRPr lang="zh-CN" altLang="en-US" noProof="0" dirty="0"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zh-CN" sz="4400" b="1" i="0" kern="1200" spc="100" baseline="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CN" sz="2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4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0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ECE2071 Project</a:t>
            </a:r>
            <a:endParaRPr lang="zh-CN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Team F08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B6B69-3265-3953-6A86-982FA7A12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985FB4A7-EC40-731C-0F41-8DE2ED065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Introduction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400895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738758" cy="76595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 Introduction and project task overview</a:t>
            </a:r>
            <a:endParaRPr lang="zh-CN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315688"/>
            <a:ext cx="7563548" cy="3575044"/>
          </a:xfrm>
        </p:spPr>
        <p:txBody>
          <a:bodyPr rtlCol="0">
            <a:normAutofit lnSpcReduction="10000"/>
          </a:bodyPr>
          <a:lstStyle>
            <a:defPPr>
              <a:defRPr lang="zh-CN"/>
            </a:defPPr>
          </a:lstStyle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1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 2-stm32 MVP that records in a sampling STM, sends to a processing STM, and finally to a python script as a .wav file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2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an interface in Python (CLI), add features based on proximity (USS), bonus features for analysis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3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Improve the audio quality to 10 bits, at a sampling of 44.1ksps, down-sampling and outlier rejection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4: 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Improve the audio quality to 12 bits at a sampling of 44.1ksps+</a:t>
            </a:r>
          </a:p>
          <a:p>
            <a:pPr rtl="0"/>
            <a:endParaRPr lang="zh-CN" dirty="0"/>
          </a:p>
          <a:p>
            <a:pPr rtl="0"/>
            <a:endParaRPr lang="zh-CN" dirty="0"/>
          </a:p>
        </p:txBody>
      </p:sp>
      <p:grpSp>
        <p:nvGrpSpPr>
          <p:cNvPr id="19" name="组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任意多边形(F)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1" name="任意多边形(F)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2" name="任意多边形(F)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F0E624ED-071E-BA92-5797-6BADACA35E5A}"/>
              </a:ext>
            </a:extLst>
          </p:cNvPr>
          <p:cNvSpPr txBox="1"/>
          <p:nvPr/>
        </p:nvSpPr>
        <p:spPr>
          <a:xfrm>
            <a:off x="2587499" y="2374519"/>
            <a:ext cx="1070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Tasks: </a:t>
            </a:r>
            <a:endParaRPr lang="zh-CN" altLang="en-US" sz="24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6D3C9F-776F-352D-F897-29918158708E}"/>
              </a:ext>
            </a:extLst>
          </p:cNvPr>
          <p:cNvSpPr txBox="1"/>
          <p:nvPr/>
        </p:nvSpPr>
        <p:spPr>
          <a:xfrm>
            <a:off x="106878" y="1016449"/>
            <a:ext cx="1026620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a two-STM32 audio recording system that captures sound through an ADC, </a:t>
            </a:r>
          </a:p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processes the sampled data, and then sends it to a computer for storage and playback.</a:t>
            </a:r>
            <a:endParaRPr lang="en-US" altLang="zh-CN" sz="2000" dirty="0">
              <a:solidFill>
                <a:schemeClr val="bg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Captures biased audio input using the ADC and transmits the sampled data to the Processing STM through SPI. (aiming for task 4 done)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Receives the samples, applies a length-2 moving average filter, and forwards the processed data to the PC through USART2.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Script: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Reads the incoming serial data, converts it into audio samples, and saves the result as a .wav file.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577A62-366D-3F02-5C29-FC304E52A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0"/>
            <a:ext cx="5171110" cy="721759"/>
          </a:xfrm>
        </p:spPr>
        <p:txBody>
          <a:bodyPr>
            <a:normAutofit/>
          </a:bodyPr>
          <a:lstStyle/>
          <a:p>
            <a:r>
              <a:rPr lang="en-US" altLang="zh-CN" dirty="0"/>
              <a:t>Stm32 diagram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A802BFA-E564-C6CE-C7C0-63C3A9D60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055" y="721759"/>
            <a:ext cx="5228162" cy="613179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572BE20-CF18-80E1-ED51-B8240462F0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281055" cy="6853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78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0259A-7C84-FB9E-BAC6-82CB5C748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15437E6F-1E08-789A-B9BF-248A0DF73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FED5FC-C10E-D486-C06A-8C9B532FB0C0}"/>
              </a:ext>
            </a:extLst>
          </p:cNvPr>
          <p:cNvSpPr txBox="1"/>
          <p:nvPr/>
        </p:nvSpPr>
        <p:spPr>
          <a:xfrm>
            <a:off x="6309903" y="4132613"/>
            <a:ext cx="50607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Python interface CLI</a:t>
            </a:r>
          </a:p>
          <a:p>
            <a:r>
              <a:rPr lang="en-US" altLang="zh-CN" sz="3200" dirty="0">
                <a:solidFill>
                  <a:schemeClr val="bg1"/>
                </a:solidFill>
              </a:rPr>
              <a:t>(User interface and modes)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756794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3EAE-1F29-5965-23D3-668D30B8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995CF4-299C-3176-15E3-DB69E649C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(user interface and modes)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BCF046-EC7F-1525-B528-3B321E07F06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 Interface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Extends the Python script into a user-controlled interface.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Supports audio export types as .wav, .png, and .csv waveform files.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Adds two operating modes: “Manual Recording Mode” and “Distance Trigger Mode”.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Manual Mode records for a user-specified duration.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Distance Trigger Mode uses an ultrasonic sensor to automatically record when an object is within the selected range, and when the object leaves the range, the recording stops after a short delay, while the system remains ready to trigger again.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5835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0312-246B-80DE-1F41-A75E9525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86632-D951-131C-4986-782079B7F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778365" cy="680195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block diagram (CLI)</a:t>
            </a:r>
            <a:endParaRPr lang="zh-CN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31760560-CD01-7B8A-F0D0-01B4314C2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04" y="678007"/>
            <a:ext cx="7860951" cy="617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561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6C000-16B1-494D-ECA7-D345622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0B4F38C-8FA4-12F3-B566-789E5305DC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3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72546E-DF5A-9757-0A5B-CADB81AA5B23}"/>
              </a:ext>
            </a:extLst>
          </p:cNvPr>
          <p:cNvSpPr txBox="1"/>
          <p:nvPr/>
        </p:nvSpPr>
        <p:spPr>
          <a:xfrm>
            <a:off x="6454239" y="4471060"/>
            <a:ext cx="3707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935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7C94C-FA9E-38E6-3331-287C1B88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C8627F-5954-03B0-7423-D3C98525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055182-6F7C-EECE-B3C6-6B9D382FDEC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302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C013C-4755-428A-2A60-9E998F309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C9AA9541-1475-EE26-F47A-B549B01A6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4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95045F4-6F3D-5C57-3AC4-68D251E02F36}"/>
              </a:ext>
            </a:extLst>
          </p:cNvPr>
          <p:cNvSpPr txBox="1"/>
          <p:nvPr/>
        </p:nvSpPr>
        <p:spPr>
          <a:xfrm>
            <a:off x="6309904" y="4043548"/>
            <a:ext cx="50748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Further 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619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AEA52-96FA-323F-1F00-72991D11D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74755-4E36-0A63-C4EE-9F0473A01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2638" y="0"/>
            <a:ext cx="6321260" cy="65050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4 block diagram</a:t>
            </a:r>
            <a:endParaRPr lang="zh-CN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75DBB88-9339-726E-2638-037A80B284E2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5082639" cy="685799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1909D27-95BA-A441-8A1B-7A5C21DA8797}"/>
              </a:ext>
            </a:extLst>
          </p:cNvPr>
          <p:cNvSpPr txBox="1"/>
          <p:nvPr/>
        </p:nvSpPr>
        <p:spPr>
          <a:xfrm>
            <a:off x="5082638" y="2351316"/>
            <a:ext cx="624406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Sampling STM:</a:t>
            </a:r>
          </a:p>
          <a:p>
            <a:r>
              <a:rPr lang="en-US" altLang="zh-CN" dirty="0">
                <a:solidFill>
                  <a:schemeClr val="bg1"/>
                </a:solidFill>
              </a:rPr>
              <a:t>takes in 12-bit ADC at 44.138 ksps, using SPI to send sample to process in a 16-bit frame</a:t>
            </a:r>
          </a:p>
          <a:p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Processing STM:</a:t>
            </a:r>
          </a:p>
          <a:p>
            <a:r>
              <a:rPr lang="en-US" altLang="zh-CN" dirty="0">
                <a:solidFill>
                  <a:schemeClr val="bg1"/>
                </a:solidFill>
              </a:rPr>
              <a:t>filters the sample using moving average and outlier rejection then pack two 12bit sample into 3 byte and sends bytes using UART2 to python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7494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Thx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0_TF78853419_Win32.potx" id="{5D2DC102-ACE5-4B12-93A7-1D448F11D1C9}" vid="{6D1E3C48-13E8-4D63-89AC-106DBDAEE8DF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{C18B53B9-8EA5-4724-B24F-C152011C9BC9}TFd3b75063-ff25-434d-b12c-efeaf07d16c3c6814a36_win32-2a74b4bd1761</Template>
  <TotalTime>572</TotalTime>
  <Words>436</Words>
  <Application>Microsoft Office PowerPoint</Application>
  <PresentationFormat>宽屏</PresentationFormat>
  <Paragraphs>60</Paragraphs>
  <Slides>14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Microsoft YaHei UI</vt:lpstr>
      <vt:lpstr>Arial</vt:lpstr>
      <vt:lpstr>Times New Roman</vt:lpstr>
      <vt:lpstr>自定义</vt:lpstr>
      <vt:lpstr>ECE2071 Project</vt:lpstr>
      <vt:lpstr>Introduction</vt:lpstr>
      <vt:lpstr> Introduction and project task overview</vt:lpstr>
      <vt:lpstr>Task 1 (MVP)</vt:lpstr>
      <vt:lpstr>Task 1 (MVP)</vt:lpstr>
      <vt:lpstr>Stm32 diagram</vt:lpstr>
      <vt:lpstr>Task 2 </vt:lpstr>
      <vt:lpstr>Task 2 (user interface and modes)</vt:lpstr>
      <vt:lpstr>Task 2 block diagram (CLI)</vt:lpstr>
      <vt:lpstr>Task 3</vt:lpstr>
      <vt:lpstr>Task</vt:lpstr>
      <vt:lpstr>Task 4</vt:lpstr>
      <vt:lpstr>Task 4 block diagram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Ziyang Huang</dc:creator>
  <cp:lastModifiedBy>Ziyang Huang</cp:lastModifiedBy>
  <cp:revision>18</cp:revision>
  <dcterms:created xsi:type="dcterms:W3CDTF">2026-05-08T22:49:29Z</dcterms:created>
  <dcterms:modified xsi:type="dcterms:W3CDTF">2026-05-09T09:17:45Z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