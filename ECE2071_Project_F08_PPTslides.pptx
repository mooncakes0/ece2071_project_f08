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4"/>
  </p:notesMasterIdLst>
  <p:handoutMasterIdLst>
    <p:handoutMasterId r:id="rId15"/>
  </p:handoutMasterIdLst>
  <p:sldIdLst>
    <p:sldId id="383" r:id="rId5"/>
    <p:sldId id="412" r:id="rId6"/>
    <p:sldId id="391" r:id="rId7"/>
    <p:sldId id="397" r:id="rId8"/>
    <p:sldId id="408" r:id="rId9"/>
    <p:sldId id="409" r:id="rId10"/>
    <p:sldId id="410" r:id="rId11"/>
    <p:sldId id="411" r:id="rId12"/>
    <p:sldId id="398" r:id="rId13"/>
  </p:sldIdLst>
  <p:sldSz cx="12192000" cy="6858000"/>
  <p:notesSz cx="6858000" cy="9144000"/>
  <p:defaultTextStyle>
    <a:defPPr rtl="0">
      <a:defRPr lang="zh-CN"/>
    </a:defPPr>
    <a:lvl1pPr marL="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作者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327" autoAdjust="0"/>
  </p:normalViewPr>
  <p:slideViewPr>
    <p:cSldViewPr snapToGrid="0">
      <p:cViewPr varScale="1">
        <p:scale>
          <a:sx n="107" d="100"/>
          <a:sy n="107" d="100"/>
        </p:scale>
        <p:origin x="84" y="1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36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/>
            </a:lvl1pPr>
          </a:lstStyle>
          <a:p>
            <a:pPr rtl="0"/>
            <a:fld id="{F32C39B4-1C2F-46CB-8CDC-53823627074F}" type="datetime1">
              <a:rPr lang="zh-CN" altLang="en-US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2026/5/9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6" name="幻灯片编号占位符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/>
            </a:lvl1pPr>
          </a:lstStyle>
          <a:p>
            <a:pPr rtl="0"/>
            <a:fld id="{E2C230DF-5933-439D-898F-38E9AC9BA688}" type="slidenum">
              <a:rPr lang="zh-CN" smtClean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‹#›</a:t>
            </a:fld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页脚占位符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8" name="页眉占位符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/>
            </a:lvl1pPr>
          </a:lstStyle>
          <a:p>
            <a:pPr rtl="0"/>
            <a:endParaRPr lang="zh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E526AB7C-14EB-4F76-BC62-F231A270ACC9}" type="datetime1">
              <a:rPr lang="en-US" altLang="zh-CN" smtClean="0"/>
              <a:pPr/>
              <a:t>5/9/2026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zh-CN"/>
            </a:defPPr>
          </a:lstStyle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zh-CN" sz="12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A89C7E07-3C67-C64C-8DA0-0404F6303970}" type="slidenum">
              <a:rPr lang="en-US" altLang="zh-CN" noProof="0" smtClean="0"/>
              <a:pPr/>
              <a:t>‹#›</a:t>
            </a:fld>
            <a:endParaRPr lang="zh-CN" altLang="en-US" noProof="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Microsoft YaHei UI" panose="020B0503020204020204" pitchFamily="34" charset="-122"/>
        <a:ea typeface="Microsoft YaHei UI" panose="020B0503020204020204" pitchFamily="34" charset="-122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1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E6DC4-5E82-599D-75AC-0F1753ED8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5B8939-D72C-1A24-93B4-59451B17C1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802524-E689-4915-6EB2-858DD23D8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7B959F2E-857E-C2CB-E863-DFD539848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2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79477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3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BC04D-2568-C19F-6211-ABA7996C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BBD96A4-D432-FA69-5E46-4DF91D77C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F639921-CFBB-DE6F-31EB-81B758CA0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453E3F8-8185-F97B-2F08-1F44FCE2A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4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727777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5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0F49-B99C-7DED-D0BA-472495493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66850BB-65E8-D9A1-558A-5ACA68C99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77832-D826-06F1-C60E-D32E8D096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28E8B441-7963-8F77-7486-F535C942A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6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655863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BEF-8CE1-F229-16C2-9BFE5C741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892243-A146-E30F-2BA4-C788A44FB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4D27925-A098-FB25-7940-1545D9688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FEA522A7-6F30-EBF8-77E0-1549E4ED64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7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755378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24428-F043-0080-79D9-B80C6668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A6856CE-5354-3689-4F5A-E8C165101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9A3267-8466-7F6E-497D-2920717D9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幻灯片编号占位符 3">
            <a:extLst>
              <a:ext uri="{FF2B5EF4-FFF2-40B4-BE49-F238E27FC236}">
                <a16:creationId xmlns:a16="http://schemas.microsoft.com/office/drawing/2014/main" id="{48A274E0-A950-9BFC-4BC2-231DB15F2D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8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8668242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endParaRPr 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zh-CN"/>
            </a:defPPr>
          </a:lstStyle>
          <a:p>
            <a:pPr rtl="0"/>
            <a:fld id="{A89C7E07-3C67-C64C-8DA0-0404F6303970}" type="slidenum">
              <a:rPr lang="en-US" altLang="zh-CN" smtClean="0"/>
              <a:t>9</a:t>
            </a:fld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议程​​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自选图形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8" name="任意多边形(F)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9" name="任意多边形(F)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2" name="标题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 spc="50" baseline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zh-CN" sz="2400" b="1" i="0" kern="1200" dirty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n-cs"/>
              </a:defRPr>
            </a:lvl1pPr>
            <a:lvl2pPr indent="-283464"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43" name="灯片编号占位符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42" name="日期占位符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8" name="标题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6000" b="1" i="0" baseline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7" name="长方形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</a:lstStyle>
          <a:p>
            <a:pPr algn="ctr" rtl="0"/>
            <a:endParaRPr lang="zh-CN" dirty="0">
              <a:latin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单击此处添加标题 </a:t>
            </a:r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/>
              <a:t>单击图标以添加图片</a:t>
            </a:r>
          </a:p>
        </p:txBody>
      </p: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/>
              <a:t>单击此处添加文本</a:t>
            </a:r>
          </a:p>
        </p:txBody>
      </p:sp>
      <p:cxnSp>
        <p:nvCxnSpPr>
          <p:cNvPr id="7" name="直接连接符​​(S)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汇总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​​(S)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组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任意多边形(F)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32" name="标题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灯片编号占位符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cxnSp>
        <p:nvCxnSpPr>
          <p:cNvPr id="13" name="直接连接符​​(S)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943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自选图形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8" name="任意多边形(F)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9" name="任意多边形(F)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Font typeface="+mj-lt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zh-CN" sz="2000"/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endParaRPr lang="zh-CN" dirty="0"/>
          </a:p>
        </p:txBody>
      </p:sp>
      <p:sp>
        <p:nvSpPr>
          <p:cNvPr id="2" name="内容占位符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283464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5486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82296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005840"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、内容和图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3" name="内容占位符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indent="-283464"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zh-CN" sz="200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单击图标以添加图片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内容和表格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任意多边形(F)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5" name="任意多边形(F)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7" name="任意多边形(F)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 marL="4572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 marL="9144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 marL="13716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 marL="182880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两栏内容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任意多边形(F)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3" name="任意多边形(F)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4" name="任意多边形(F)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6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7" name="内容占位符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2pPr>
            <a:lvl3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3pPr>
            <a:lvl4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4pPr>
            <a:lvl5pPr>
              <a:spcBef>
                <a:spcPts val="1800"/>
              </a:spcBef>
              <a:defRPr lang="zh-CN" sz="2000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5pPr>
          </a:lstStyle>
          <a:p>
            <a:pPr lvl="0" rtl="0"/>
            <a:r>
              <a:rPr lang="zh-CN" dirty="0"/>
              <a:t>单击此处添加内容</a:t>
            </a:r>
          </a:p>
          <a:p>
            <a:pPr lvl="1" rtl="0"/>
            <a:r>
              <a:rPr lang="zh-CN" dirty="0"/>
              <a:t>第二级</a:t>
            </a:r>
          </a:p>
          <a:p>
            <a:pPr lvl="2" rtl="0"/>
            <a:r>
              <a:rPr lang="zh-CN" dirty="0"/>
              <a:t>第三级</a:t>
            </a:r>
          </a:p>
          <a:p>
            <a:pPr lvl="3" rtl="0"/>
            <a:r>
              <a:rPr lang="zh-CN" dirty="0"/>
              <a:t>第四级</a:t>
            </a:r>
          </a:p>
          <a:p>
            <a:pPr lvl="4" rtl="0"/>
            <a:r>
              <a:rPr lang="zh-CN" dirty="0"/>
              <a:t>第五级</a:t>
            </a:r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标题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rmAutofit/>
          </a:bodyPr>
          <a:lstStyle>
            <a:lvl1pPr>
              <a:defRPr lang="zh-CN" sz="44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sp>
        <p:nvSpPr>
          <p:cNvPr id="9" name="表格占位符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594360" y="2628629"/>
            <a:ext cx="10972800" cy="3636740"/>
          </a:xfrm>
        </p:spPr>
        <p:txBody>
          <a:bodyPr rtlCol="0">
            <a:normAutofit/>
          </a:bodyPr>
          <a:lstStyle>
            <a:lvl1pPr>
              <a:defRPr lang="zh-CN"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单击图标以添加表格</a:t>
            </a:r>
          </a:p>
        </p:txBody>
      </p:sp>
      <p:sp>
        <p:nvSpPr>
          <p:cNvPr id="10" name="灯片编号占位符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zh-CN"/>
            </a:defPPr>
          </a:lstStyle>
          <a:p>
            <a:fld id="{294A09A9-5501-47C1-A89A-A340965A2BE2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sp>
        <p:nvSpPr>
          <p:cNvPr id="8" name="日期占位符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zh-CN"/>
            </a:defPPr>
            <a:lvl1pPr>
              <a:defRPr>
                <a:latin typeface="Microsoft YaHei UI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rmAutofit/>
          </a:bodyPr>
          <a:lstStyle>
            <a:lvl1pPr algn="l">
              <a:lnSpc>
                <a:spcPct val="80000"/>
              </a:lnSpc>
              <a:defRPr lang="zh-CN" sz="6000" b="1" i="0" spc="100" baseline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pPr rtl="0"/>
            <a:r>
              <a:rPr lang="zh-CN" dirty="0"/>
              <a:t>单击此处添加标题 </a:t>
            </a:r>
          </a:p>
        </p:txBody>
      </p:sp>
      <p:grpSp>
        <p:nvGrpSpPr>
          <p:cNvPr id="9" name="组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任意多边形(F)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1" name="任意多边形(F)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12" name="任意多边形(F)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18" name="文本占位符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rmAutofit/>
          </a:bodyPr>
          <a:lstStyle>
            <a:lvl1pPr marL="0" indent="0">
              <a:buNone/>
              <a:defRPr lang="zh-CN" sz="2400" b="1" i="0">
                <a:solidFill>
                  <a:schemeClr val="tx2">
                    <a:lumMod val="75000"/>
                  </a:schemeClr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  <a:lvl2pPr>
              <a:defRPr lang="zh-CN" sz="4000"/>
            </a:lvl2pPr>
            <a:lvl3pPr>
              <a:defRPr lang="zh-CN" sz="4000"/>
            </a:lvl3pPr>
            <a:lvl4pPr>
              <a:defRPr lang="zh-CN" sz="4000"/>
            </a:lvl4pPr>
            <a:lvl5pPr>
              <a:defRPr lang="zh-CN" sz="4000"/>
            </a:lvl5pPr>
          </a:lstStyle>
          <a:p>
            <a:pPr lvl="0" rtl="0"/>
            <a:r>
              <a:rPr lang="zh-CN" dirty="0"/>
              <a:t>单击此处添加文本</a:t>
            </a:r>
          </a:p>
        </p:txBody>
      </p:sp>
      <p:cxnSp>
        <p:nvCxnSpPr>
          <p:cNvPr id="4" name="直接连接符​​(S)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zh-CN"/>
            </a:defPPr>
          </a:lstStyle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12" name="标题占位符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zh-CN"/>
            </a:defPPr>
          </a:lstStyle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0" name="日期占位符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0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endParaRPr lang="zh-CN" altLang="en-US" noProof="0" dirty="0">
              <a:ea typeface="Microsoft YaHei UI" panose="020B0503020204020204" pitchFamily="34" charset="-122"/>
            </a:endParaRPr>
          </a:p>
        </p:txBody>
      </p:sp>
      <p:sp>
        <p:nvSpPr>
          <p:cNvPr id="32" name="幻灯片编号占位符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zh-CN" sz="1100" b="1" i="0">
                <a:solidFill>
                  <a:schemeClr val="bg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defRPr>
            </a:lvl1pPr>
          </a:lstStyle>
          <a:p>
            <a:fld id="{294A09A9-5501-47C1-A89A-A340965A2BE2}" type="slidenum">
              <a:rPr lang="en-US" altLang="zh-CN" noProof="0" smtClean="0"/>
              <a:pPr/>
              <a:t>‹#›</a:t>
            </a:fld>
            <a:endParaRPr lang="zh-CN" altLang="en-US" noProof="0" dirty="0"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zh-CN" sz="4400" b="1" i="0" kern="1200" spc="100" baseline="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CN" sz="2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4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20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b="0" i="0" kern="1200">
          <a:solidFill>
            <a:schemeClr val="bg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ECE2071 Project</a:t>
            </a:r>
            <a:endParaRPr lang="zh-CN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Team F08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B6B69-3265-3953-6A86-982FA7A12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85FB4A7-EC40-731C-0F41-8DE2ED0658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Introduction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40089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738758" cy="765957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 Introduction and project task overview</a:t>
            </a:r>
            <a:endParaRPr lang="zh-CN" dirty="0"/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315688"/>
            <a:ext cx="7563548" cy="3575044"/>
          </a:xfrm>
        </p:spPr>
        <p:txBody>
          <a:bodyPr rtlCol="0">
            <a:normAutofit lnSpcReduction="10000"/>
          </a:bodyPr>
          <a:lstStyle>
            <a:defPPr>
              <a:defRPr lang="zh-CN"/>
            </a:defPPr>
          </a:lstStyle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1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 2-stm32 MVP that records in a sampling STM, sends to a processing STM, and finally to a python script as a .wav file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2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Create an interface in Python (CLI), add features based on proximity (USS), bonus features for analysis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3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: Improve the audio quality to 10 bits, at a sampling of 44.1ksps, down-sampling and outlier rejection</a:t>
            </a:r>
          </a:p>
          <a:p>
            <a:pPr marL="457200" lvl="0">
              <a:spcBef>
                <a:spcPts val="1200"/>
              </a:spcBef>
            </a:pPr>
            <a:endParaRPr lang="en-US" altLang="zh-CN" sz="19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0037">
              <a:spcBef>
                <a:spcPts val="1200"/>
              </a:spcBef>
              <a:buSzPct val="100000"/>
              <a:buFont typeface="Times New Roman"/>
              <a:buChar char="●"/>
            </a:pPr>
            <a:r>
              <a:rPr lang="en-US" altLang="zh-CN" sz="1900" b="1" dirty="0">
                <a:latin typeface="Times New Roman"/>
                <a:ea typeface="Times New Roman"/>
                <a:cs typeface="Times New Roman"/>
                <a:sym typeface="Times New Roman"/>
              </a:rPr>
              <a:t>Task 4: </a:t>
            </a:r>
            <a:r>
              <a:rPr lang="en-US" altLang="zh-CN" sz="1900" dirty="0">
                <a:latin typeface="Times New Roman"/>
                <a:ea typeface="Times New Roman"/>
                <a:cs typeface="Times New Roman"/>
                <a:sym typeface="Times New Roman"/>
              </a:rPr>
              <a:t>Improve the audio quality to 12 bits at a sampling of 44.1ksps+</a:t>
            </a:r>
          </a:p>
          <a:p>
            <a:pPr rtl="0"/>
            <a:endParaRPr lang="zh-CN" dirty="0"/>
          </a:p>
          <a:p>
            <a:pPr rtl="0"/>
            <a:endParaRPr lang="zh-CN" dirty="0"/>
          </a:p>
        </p:txBody>
      </p:sp>
      <p:grpSp>
        <p:nvGrpSpPr>
          <p:cNvPr id="19" name="组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任意多边形(F)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1" name="任意多边形(F)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  <p:sp>
          <p:nvSpPr>
            <p:cNvPr id="22" name="任意多边形(F)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zh-CN"/>
              </a:defPPr>
            </a:lstStyle>
            <a:p>
              <a:pPr rtl="0"/>
              <a:endParaRPr lang="zh-CN" dirty="0">
                <a:latin typeface="Microsoft YaHei UI" panose="020B0503020204020204" pitchFamily="34" charset="-122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0E624ED-071E-BA92-5797-6BADACA35E5A}"/>
              </a:ext>
            </a:extLst>
          </p:cNvPr>
          <p:cNvSpPr txBox="1"/>
          <p:nvPr/>
        </p:nvSpPr>
        <p:spPr>
          <a:xfrm>
            <a:off x="2587499" y="2374519"/>
            <a:ext cx="1070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b="1" dirty="0">
                <a:solidFill>
                  <a:schemeClr val="bg1"/>
                </a:solidFill>
              </a:rPr>
              <a:t>Tasks: </a:t>
            </a:r>
            <a:endParaRPr lang="zh-CN" altLang="en-US" sz="24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6D3C9F-776F-352D-F897-29918158708E}"/>
              </a:ext>
            </a:extLst>
          </p:cNvPr>
          <p:cNvSpPr txBox="1"/>
          <p:nvPr/>
        </p:nvSpPr>
        <p:spPr>
          <a:xfrm>
            <a:off x="106878" y="1016449"/>
            <a:ext cx="10266208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develops a two-STM32 audio recording system that captures sound through an ADC, </a:t>
            </a:r>
          </a:p>
          <a:p>
            <a:r>
              <a:rPr lang="en-US" altLang="zh-CN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processes the sampled data, and then sends it to a computer for storage and playback.</a:t>
            </a:r>
            <a:endParaRPr lang="en-US" altLang="zh-CN" sz="2000" dirty="0">
              <a:solidFill>
                <a:schemeClr val="bg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33A5-8BE3-D44D-57F3-2EF16137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AB6D40A-2A0A-AF3D-8CF7-3ECD37765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20390597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8758" y="2481943"/>
            <a:ext cx="11679382" cy="3792052"/>
          </a:xfrm>
        </p:spPr>
        <p:txBody>
          <a:bodyPr rtlCol="0">
            <a:noAutofit/>
          </a:bodyPr>
          <a:lstStyle>
            <a:defPPr>
              <a:defRPr lang="zh-CN"/>
            </a:defPPr>
          </a:lstStyle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Captures biased audio input using the ADC and transmits the sampled data to the Processing STM through SPI. (aiming for task 4 done)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STM: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Receives the samples, applies a length-2 moving average filter, and forwards the processed data to the PC through USART2.</a:t>
            </a:r>
          </a:p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Script: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Reads the incoming serial data, converts it into audio samples, and saves the result as a .wav file.</a:t>
            </a:r>
            <a:endParaRPr 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0259A-7C84-FB9E-BAC6-82CB5C748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15437E6F-1E08-789A-B9BF-248A0DF73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2 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FED5FC-C10E-D486-C06A-8C9B532FB0C0}"/>
              </a:ext>
            </a:extLst>
          </p:cNvPr>
          <p:cNvSpPr txBox="1"/>
          <p:nvPr/>
        </p:nvSpPr>
        <p:spPr>
          <a:xfrm>
            <a:off x="6309903" y="4132613"/>
            <a:ext cx="50607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Python interface CLI</a:t>
            </a:r>
          </a:p>
          <a:p>
            <a:r>
              <a:rPr lang="en-US" altLang="zh-CN" sz="3200" dirty="0">
                <a:solidFill>
                  <a:schemeClr val="bg1"/>
                </a:solidFill>
              </a:rPr>
              <a:t>(User interface and modes)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56794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C000-16B1-494D-ECA7-D3456222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0B4F38C-8FA4-12F3-B566-789E5305DC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3</a:t>
            </a:r>
            <a:endParaRPr lang="zh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72546E-DF5A-9757-0A5B-CADB81AA5B23}"/>
              </a:ext>
            </a:extLst>
          </p:cNvPr>
          <p:cNvSpPr txBox="1"/>
          <p:nvPr/>
        </p:nvSpPr>
        <p:spPr>
          <a:xfrm>
            <a:off x="6454239" y="4471060"/>
            <a:ext cx="35169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bg1"/>
                </a:solidFill>
              </a:rPr>
              <a:t>Audio improvement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935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C013C-4755-428A-2A60-9E998F309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C9AA9541-1475-EE26-F47A-B549B01A6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 dirty="0"/>
              <a:t>Task 1 (MVP)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1580619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>
            <a:normAutofit/>
          </a:bodyPr>
          <a:lstStyle>
            <a:defPPr>
              <a:defRPr lang="zh-CN"/>
            </a:defPPr>
          </a:lstStyle>
          <a:p>
            <a:pPr rtl="0"/>
            <a:r>
              <a:rPr lang="en-US" altLang="zh-CN"/>
              <a:t>Thx</a:t>
            </a:r>
            <a:endParaRPr lang="zh-CN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自定义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0_TF78853419_Win32.potx" id="{5D2DC102-ACE5-4B12-93A7-1D448F11D1C9}" vid="{6D1E3C48-13E8-4D63-89AC-106DBDAEE8DF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{C18B53B9-8EA5-4724-B24F-C152011C9BC9}TFd3b75063-ff25-434d-b12c-efeaf07d16c3c6814a36_win32-2a74b4bd1761</Template>
  <TotalTime>78</TotalTime>
  <Words>258</Words>
  <Application>Microsoft Office PowerPoint</Application>
  <PresentationFormat>宽屏</PresentationFormat>
  <Paragraphs>38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Microsoft YaHei UI</vt:lpstr>
      <vt:lpstr>Arial</vt:lpstr>
      <vt:lpstr>Times New Roman</vt:lpstr>
      <vt:lpstr>自定义</vt:lpstr>
      <vt:lpstr>ECE2071 Project</vt:lpstr>
      <vt:lpstr>Introduction</vt:lpstr>
      <vt:lpstr> Introduction and project task overview</vt:lpstr>
      <vt:lpstr>Task 1 (MVP)</vt:lpstr>
      <vt:lpstr>Task 1 (MVP)</vt:lpstr>
      <vt:lpstr>Task 2 </vt:lpstr>
      <vt:lpstr>Task 3</vt:lpstr>
      <vt:lpstr>Task 1 (MVP)</vt:lpstr>
      <vt:lpstr>Thx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Ziyang Huang</dc:creator>
  <cp:lastModifiedBy>Ziyang Huang</cp:lastModifiedBy>
  <cp:revision>8</cp:revision>
  <dcterms:created xsi:type="dcterms:W3CDTF">2026-05-08T22:49:29Z</dcterms:created>
  <dcterms:modified xsi:type="dcterms:W3CDTF">2026-05-09T00:10:00Z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