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383" r:id="rId5"/>
    <p:sldId id="391" r:id="rId6"/>
    <p:sldId id="397" r:id="rId7"/>
    <p:sldId id="408" r:id="rId8"/>
    <p:sldId id="409" r:id="rId9"/>
    <p:sldId id="410" r:id="rId10"/>
    <p:sldId id="411" r:id="rId11"/>
    <p:sldId id="407" r:id="rId12"/>
    <p:sldId id="406" r:id="rId13"/>
    <p:sldId id="405" r:id="rId14"/>
    <p:sldId id="404" r:id="rId15"/>
    <p:sldId id="403" r:id="rId16"/>
    <p:sldId id="398" r:id="rId17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6327" autoAdjust="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3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F32C39B4-1C2F-46CB-8CDC-53823627074F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2026/5/9</a:t>
            </a:fld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E2C230DF-5933-439D-898F-38E9AC9BA688}" type="slidenum">
              <a:rPr 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页眉占位符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526AB7C-14EB-4F76-BC62-F231A270ACC9}" type="datetime1">
              <a:rPr lang="en-US" altLang="zh-CN" smtClean="0"/>
              <a:pPr/>
              <a:t>5/9/2026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89C7E07-3C67-C64C-8DA0-0404F6303970}" type="slidenum">
              <a:rPr lang="en-US" altLang="zh-CN" noProof="0" smtClean="0"/>
              <a:pPr/>
              <a:t>‹#›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3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4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0F49-B99C-7DED-D0BA-472495493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6850BB-65E8-D9A1-558A-5ACA68C99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377832-D826-06F1-C60E-D32E8D096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28E8B441-7963-8F77-7486-F535C942A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5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655863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9DBEF-8CE1-F229-16C2-9BFE5C741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892243-A146-E30F-2BA4-C788A44FB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D27925-A098-FB25-7940-1545D9688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FEA522A7-6F30-EBF8-77E0-1549E4ED6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6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875537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24428-F043-0080-79D9-B80C6668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6856CE-5354-3689-4F5A-E8C165101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9A3267-8466-7F6E-497D-2920717D9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48A274E0-A950-9BFC-4BC2-231DB15F2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7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866824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8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9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10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11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12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13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cxnSp>
        <p:nvCxnSpPr>
          <p:cNvPr id="13" name="直接连接符​​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议程​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自选图形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8" name="任意多边形(F)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9" name="任意多边形(F)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 spc="5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4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indent="-283464"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42" name="日期占位符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rmAutofit/>
          </a:bodyPr>
          <a:lstStyle>
            <a:lvl1pPr marL="0" indent="0" algn="ctr">
              <a:buNone/>
              <a:defRPr lang="zh-CN"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单击图标以添加图片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6000" b="1" i="0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latin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 </a:t>
            </a: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单击图标以添加图片</a:t>
            </a:r>
          </a:p>
        </p:txBody>
      </p: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/>
              <a:t>单击此处添加文本</a:t>
            </a:r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汇总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组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任意多边形(F)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cxnSp>
        <p:nvCxnSpPr>
          <p:cNvPr id="13" name="直接连接符​​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 dirty="0"/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任意多边形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464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9436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464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486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自选图形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8" name="任意多边形(F)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9" name="任意多边形(F)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zh-CN" sz="20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endParaRPr lang="zh-CN" dirty="0"/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464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486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内容和图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单击图标以添加图片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和表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任意多边形(F)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5" name="任意多边形(F)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7" name="任意多边形(F)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任意多边形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9" name="表格占位符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94360" y="2628629"/>
            <a:ext cx="10972800" cy="3636740"/>
          </a:xfrm>
        </p:spPr>
        <p:txBody>
          <a:bodyPr rtlCol="0">
            <a:normAutofit/>
          </a:bodyPr>
          <a:lstStyle>
            <a:lvl1pPr>
              <a:defRPr lang="zh-CN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单击图标以添加表格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 dirty="0"/>
              <a:t>单击此处添加文本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2" name="标题占位符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0" name="日期占位符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zh-CN"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ea typeface="Microsoft YaHei UI" panose="020B0503020204020204" pitchFamily="34" charset="-122"/>
            </a:endParaRPr>
          </a:p>
        </p:txBody>
      </p:sp>
      <p:sp>
        <p:nvSpPr>
          <p:cNvPr id="32" name="幻灯片编号占位符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zh-CN" sz="11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94A09A9-5501-47C1-A89A-A340965A2BE2}" type="slidenum">
              <a:rPr lang="en-US" altLang="zh-CN" noProof="0" smtClean="0"/>
              <a:pPr/>
              <a:t>‹#›</a:t>
            </a:fld>
            <a:endParaRPr lang="zh-CN" altLang="en-US" noProof="0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zh-CN" sz="4400" b="1" i="0" kern="1200" spc="100" baseline="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ECE2071 Project</a:t>
            </a:r>
            <a:endParaRPr 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Team F08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738758" cy="765957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 Introduction and project task overview</a:t>
            </a:r>
            <a:endParaRPr lang="zh-CN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315688"/>
            <a:ext cx="7563548" cy="3575044"/>
          </a:xfrm>
        </p:spPr>
        <p:txBody>
          <a:bodyPr rtlCol="0">
            <a:normAutofit lnSpcReduction="10000"/>
          </a:bodyPr>
          <a:lstStyle>
            <a:defPPr>
              <a:defRPr lang="zh-CN"/>
            </a:defPPr>
          </a:lstStyle>
          <a:p>
            <a:pPr marL="457200" lvl="0" indent="-300037">
              <a:spcBef>
                <a:spcPts val="1200"/>
              </a:spcBef>
              <a:buSzPct val="100000"/>
              <a:buFont typeface="Times New Roman"/>
              <a:buChar char="●"/>
            </a:pPr>
            <a:r>
              <a:rPr lang="en-US" altLang="zh-CN" sz="1900" b="1" dirty="0">
                <a:latin typeface="Times New Roman"/>
                <a:ea typeface="Times New Roman"/>
                <a:cs typeface="Times New Roman"/>
                <a:sym typeface="Times New Roman"/>
              </a:rPr>
              <a:t>Task 1</a:t>
            </a:r>
            <a:r>
              <a:rPr lang="en-US" altLang="zh-CN" sz="1900" dirty="0">
                <a:latin typeface="Times New Roman"/>
                <a:ea typeface="Times New Roman"/>
                <a:cs typeface="Times New Roman"/>
                <a:sym typeface="Times New Roman"/>
              </a:rPr>
              <a:t>: Create a 2-stm32 MVP that records in a sampling STM, sends to a processing STM, and finally to a python script as a .wav file</a:t>
            </a:r>
          </a:p>
          <a:p>
            <a:pPr marL="457200" lvl="0">
              <a:spcBef>
                <a:spcPts val="1200"/>
              </a:spcBef>
            </a:pPr>
            <a:endParaRPr lang="en-US" altLang="zh-CN"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0037">
              <a:spcBef>
                <a:spcPts val="1200"/>
              </a:spcBef>
              <a:buSzPct val="100000"/>
              <a:buFont typeface="Times New Roman"/>
              <a:buChar char="●"/>
            </a:pPr>
            <a:r>
              <a:rPr lang="en-US" altLang="zh-CN" sz="1900" b="1" dirty="0">
                <a:latin typeface="Times New Roman"/>
                <a:ea typeface="Times New Roman"/>
                <a:cs typeface="Times New Roman"/>
                <a:sym typeface="Times New Roman"/>
              </a:rPr>
              <a:t>Task 2</a:t>
            </a:r>
            <a:r>
              <a:rPr lang="en-US" altLang="zh-CN" sz="1900" dirty="0">
                <a:latin typeface="Times New Roman"/>
                <a:ea typeface="Times New Roman"/>
                <a:cs typeface="Times New Roman"/>
                <a:sym typeface="Times New Roman"/>
              </a:rPr>
              <a:t>: Create an interface in Python (CLI), add features based on proximity (USS), bonus features for analysis</a:t>
            </a:r>
          </a:p>
          <a:p>
            <a:pPr marL="457200" lvl="0">
              <a:spcBef>
                <a:spcPts val="1200"/>
              </a:spcBef>
            </a:pPr>
            <a:endParaRPr lang="en-US" altLang="zh-CN"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0037">
              <a:spcBef>
                <a:spcPts val="1200"/>
              </a:spcBef>
              <a:buSzPct val="100000"/>
              <a:buFont typeface="Times New Roman"/>
              <a:buChar char="●"/>
            </a:pPr>
            <a:r>
              <a:rPr lang="en-US" altLang="zh-CN" sz="1900" b="1" dirty="0">
                <a:latin typeface="Times New Roman"/>
                <a:ea typeface="Times New Roman"/>
                <a:cs typeface="Times New Roman"/>
                <a:sym typeface="Times New Roman"/>
              </a:rPr>
              <a:t>Task 3</a:t>
            </a:r>
            <a:r>
              <a:rPr lang="en-US" altLang="zh-CN" sz="1900" dirty="0">
                <a:latin typeface="Times New Roman"/>
                <a:ea typeface="Times New Roman"/>
                <a:cs typeface="Times New Roman"/>
                <a:sym typeface="Times New Roman"/>
              </a:rPr>
              <a:t>: Improve the audio quality to 10 bits, at a sampling of 44.1ksps, down-sampling and outlier rejection</a:t>
            </a:r>
          </a:p>
          <a:p>
            <a:pPr marL="457200" lvl="0">
              <a:spcBef>
                <a:spcPts val="1200"/>
              </a:spcBef>
            </a:pPr>
            <a:endParaRPr lang="en-US" altLang="zh-CN"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0037">
              <a:spcBef>
                <a:spcPts val="1200"/>
              </a:spcBef>
              <a:buSzPct val="100000"/>
              <a:buFont typeface="Times New Roman"/>
              <a:buChar char="●"/>
            </a:pPr>
            <a:r>
              <a:rPr lang="en-US" altLang="zh-CN" sz="1900" b="1" dirty="0">
                <a:latin typeface="Times New Roman"/>
                <a:ea typeface="Times New Roman"/>
                <a:cs typeface="Times New Roman"/>
                <a:sym typeface="Times New Roman"/>
              </a:rPr>
              <a:t>Task 4: </a:t>
            </a:r>
            <a:r>
              <a:rPr lang="en-US" altLang="zh-CN" sz="1900" dirty="0">
                <a:latin typeface="Times New Roman"/>
                <a:ea typeface="Times New Roman"/>
                <a:cs typeface="Times New Roman"/>
                <a:sym typeface="Times New Roman"/>
              </a:rPr>
              <a:t>Improve the audio quality to 12 bits at a sampling of 44.1ksps+</a:t>
            </a:r>
          </a:p>
          <a:p>
            <a:pPr rtl="0"/>
            <a:endParaRPr lang="zh-CN" dirty="0"/>
          </a:p>
          <a:p>
            <a:pPr rtl="0"/>
            <a:endParaRPr lang="zh-CN" dirty="0"/>
          </a:p>
        </p:txBody>
      </p:sp>
      <p:grpSp>
        <p:nvGrpSpPr>
          <p:cNvPr id="19" name="组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任意多边形(F)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1" name="任意多边形(F)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2" name="任意多边形(F)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0E624ED-071E-BA92-5797-6BADACA35E5A}"/>
              </a:ext>
            </a:extLst>
          </p:cNvPr>
          <p:cNvSpPr txBox="1"/>
          <p:nvPr/>
        </p:nvSpPr>
        <p:spPr>
          <a:xfrm>
            <a:off x="2587499" y="2374519"/>
            <a:ext cx="1070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Tasks: </a:t>
            </a:r>
            <a:endParaRPr lang="zh-CN" altLang="en-US" sz="24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6D3C9F-776F-352D-F897-29918158708E}"/>
              </a:ext>
            </a:extLst>
          </p:cNvPr>
          <p:cNvSpPr txBox="1"/>
          <p:nvPr/>
        </p:nvSpPr>
        <p:spPr>
          <a:xfrm>
            <a:off x="106878" y="1016449"/>
            <a:ext cx="1026620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two-STM32 audio recording system that captures sound through an ADC, 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the sampled data, and then sends it to a computer for storage and playback.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Task 1 (MVP)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Task 1 (MVP)</a:t>
            </a:r>
            <a:endParaRPr 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8758" y="2481943"/>
            <a:ext cx="11679382" cy="3792052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STM: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Captures biased audio input using the ADC and transmits the sampled data to the Processing STM through SPI. (aiming for task 4 done)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STM: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Receives the samples, applies a length-2 moving average filter, and forwards the processed data to the PC through USART2.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Script: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Reads the incoming serial data, converts it into audio samples, and saves the result as a .wav file.</a:t>
            </a:r>
            <a:endParaRPr 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0259A-7C84-FB9E-BAC6-82CB5C74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15437E6F-1E08-789A-B9BF-248A0DF73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Task 2 </a:t>
            </a:r>
            <a:endParaRPr 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FED5FC-C10E-D486-C06A-8C9B532FB0C0}"/>
              </a:ext>
            </a:extLst>
          </p:cNvPr>
          <p:cNvSpPr txBox="1"/>
          <p:nvPr/>
        </p:nvSpPr>
        <p:spPr>
          <a:xfrm>
            <a:off x="6309904" y="4132613"/>
            <a:ext cx="2304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Python interface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679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C000-16B1-494D-ECA7-D3456222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0B4F38C-8FA4-12F3-B566-789E5305D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Task 1 (MVP)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92793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C013C-4755-428A-2A60-9E998F30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C9AA9541-1475-EE26-F47A-B549B01A6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Task 1 (MVP)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580619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导航问答环节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457201"/>
            <a:ext cx="5198269" cy="230505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提前了解你的资料</a:t>
            </a:r>
          </a:p>
          <a:p>
            <a:pPr rtl="0"/>
            <a:r>
              <a:rPr lang="zh-CN"/>
              <a:t>预测常见问题</a:t>
            </a:r>
          </a:p>
          <a:p>
            <a:pPr rtl="0"/>
            <a:r>
              <a:rPr lang="zh-CN"/>
              <a:t>排练你的回答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810595"/>
            <a:ext cx="5198269" cy="3319513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在问答环节保持冷静是展现自信和权威的关键。请考虑以下保持冷静的提示：</a:t>
            </a:r>
          </a:p>
          <a:p>
            <a:pPr lvl="1" rtl="0"/>
            <a:r>
              <a:rPr lang="zh-CN" dirty="0"/>
              <a:t>保持冷静</a:t>
            </a:r>
          </a:p>
          <a:p>
            <a:pPr lvl="1" rtl="0"/>
            <a:r>
              <a:rPr lang="zh-CN" dirty="0"/>
              <a:t>主动倾听</a:t>
            </a:r>
          </a:p>
          <a:p>
            <a:pPr lvl="1" rtl="0"/>
            <a:r>
              <a:rPr lang="zh-CN" dirty="0"/>
              <a:t>暂停并反思</a:t>
            </a:r>
          </a:p>
          <a:p>
            <a:pPr lvl="1" rtl="0"/>
            <a:r>
              <a:rPr lang="zh-CN" dirty="0"/>
              <a:t>保持眼神交流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演讲的影响力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4767169" cy="2994025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有效沟通的能力会给你的受众留下持久的影响。</a:t>
            </a:r>
          </a:p>
          <a:p>
            <a:pPr rtl="0"/>
            <a:r>
              <a:rPr lang="zh-CN" dirty="0"/>
              <a:t>有效沟通不仅是传达讯息，还是与听众的经历、价值观和情绪产生共鸣 </a:t>
            </a:r>
          </a:p>
          <a:p>
            <a:pPr rtl="0"/>
            <a:endParaRPr lang="zh-CN" dirty="0"/>
          </a:p>
        </p:txBody>
      </p:sp>
      <p:pic>
        <p:nvPicPr>
          <p:cNvPr id="5" name="图片占位符 52" descr="悬挂的灯泡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活力演讲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B14AAA-1F04-769D-E7F0-4F68C8EB92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学会在演讲中注入活力，留下持久的印象。</a:t>
            </a:r>
          </a:p>
          <a:p>
            <a:pPr rtl="0"/>
            <a:r>
              <a:rPr lang="zh-CN"/>
              <a:t>有效沟通的目标之一是激励你的受众。</a:t>
            </a:r>
          </a:p>
        </p:txBody>
      </p:sp>
      <p:graphicFrame>
        <p:nvGraphicFramePr>
          <p:cNvPr id="8" name="表格占位符 2">
            <a:extLst>
              <a:ext uri="{FF2B5EF4-FFF2-40B4-BE49-F238E27FC236}">
                <a16:creationId xmlns:a16="http://schemas.microsoft.com/office/drawing/2014/main" id="{C60AA2D2-28D7-69D7-F6C5-B31DAD3332C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49240046"/>
              </p:ext>
            </p:extLst>
          </p:nvPr>
        </p:nvGraphicFramePr>
        <p:xfrm>
          <a:off x="3670300" y="584200"/>
          <a:ext cx="7930340" cy="396468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98258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8258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98258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982585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11373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指标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度量​​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实际值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08914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参加受众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参与者人数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08914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参与时长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分钟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11373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问答互动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问题数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11373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积极反馈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12734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信息保留率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最后的提示和要点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一致的排练</a:t>
            </a:r>
          </a:p>
          <a:p>
            <a:pPr lvl="1" rtl="0"/>
            <a:r>
              <a:rPr lang="zh-CN"/>
              <a:t>加强你的熟悉度</a:t>
            </a:r>
          </a:p>
          <a:p>
            <a:pPr rtl="0"/>
            <a:r>
              <a:rPr lang="zh-CN"/>
              <a:t>完善演讲风格</a:t>
            </a:r>
          </a:p>
          <a:p>
            <a:pPr lvl="1" rtl="0"/>
            <a:r>
              <a:rPr lang="zh-CN"/>
              <a:t>节奏、语气和重点</a:t>
            </a:r>
          </a:p>
          <a:p>
            <a:pPr rtl="0"/>
            <a:r>
              <a:rPr lang="zh-CN"/>
              <a:t>定时和过渡</a:t>
            </a:r>
          </a:p>
          <a:p>
            <a:pPr lvl="1" rtl="0"/>
            <a:r>
              <a:rPr lang="zh-CN"/>
              <a:t>目的是演讲流畅、专业</a:t>
            </a:r>
          </a:p>
          <a:p>
            <a:pPr rtl="0"/>
            <a:r>
              <a:rPr lang="zh-CN"/>
              <a:t>练习受众</a:t>
            </a:r>
          </a:p>
          <a:p>
            <a:pPr lvl="1" rtl="0"/>
            <a:r>
              <a:rPr lang="zh-CN"/>
              <a:t>争取同事来听并提供反馈</a:t>
            </a:r>
          </a:p>
          <a:p>
            <a:pPr lvl="1" rtl="0"/>
            <a:endParaRPr 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寻求反馈</a:t>
            </a:r>
          </a:p>
          <a:p>
            <a:pPr rtl="0"/>
            <a:r>
              <a:rPr lang="zh-CN"/>
              <a:t>反思表现</a:t>
            </a:r>
          </a:p>
          <a:p>
            <a:pPr rtl="0"/>
            <a:r>
              <a:rPr lang="zh-CN"/>
              <a:t>探索新技巧</a:t>
            </a:r>
          </a:p>
          <a:p>
            <a:pPr rtl="0"/>
            <a:r>
              <a:rPr lang="zh-CN"/>
              <a:t>设定个人目标</a:t>
            </a:r>
          </a:p>
          <a:p>
            <a:pPr rtl="0"/>
            <a:r>
              <a:rPr lang="zh-CN"/>
              <a:t>反复演练和调整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演讲参与度指标</a:t>
            </a:r>
          </a:p>
        </p:txBody>
      </p:sp>
      <p:graphicFrame>
        <p:nvGraphicFramePr>
          <p:cNvPr id="4" name="表格占位符 3">
            <a:extLst>
              <a:ext uri="{FF2B5EF4-FFF2-40B4-BE49-F238E27FC236}">
                <a16:creationId xmlns:a16="http://schemas.microsoft.com/office/drawing/2014/main" id="{4D1FB21E-CCFB-8E64-064C-DB8195F86847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971184437"/>
              </p:ext>
            </p:extLst>
          </p:nvPr>
        </p:nvGraphicFramePr>
        <p:xfrm>
          <a:off x="593725" y="2628900"/>
          <a:ext cx="10991080" cy="356813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4777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4689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solidFill>
                            <a:schemeClr val="bg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影响因素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solidFill>
                            <a:schemeClr val="bg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度量​​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solidFill>
                            <a:schemeClr val="bg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solidFill>
                            <a:schemeClr val="bg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提升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受众互动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知识保留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演示后调查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平均评级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推荐率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协作机会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机会数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谢谢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rtlCol="0">
            <a:normAutofit lnSpcReduction="10000"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Brita Tamm</a:t>
            </a:r>
          </a:p>
          <a:p>
            <a:pPr rtl="0"/>
            <a:r>
              <a:rPr lang="zh-CN" dirty="0"/>
              <a:t>502-555-0152</a:t>
            </a:r>
          </a:p>
          <a:p>
            <a:pPr rtl="0"/>
            <a:r>
              <a:rPr lang="zh-CN" dirty="0"/>
              <a:t>brita@firstupconsultants.com</a:t>
            </a:r>
          </a:p>
          <a:p>
            <a:pPr rtl="0"/>
            <a:r>
              <a:rPr lang="zh-CN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0_TF78853419_Win32.potx" id="{5D2DC102-ACE5-4B12-93A7-1D448F11D1C9}" vid="{6D1E3C48-13E8-4D63-89AC-106DBDAEE8DF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{C18B53B9-8EA5-4724-B24F-C152011C9BC9}TFd3b75063-ff25-434d-b12c-efeaf07d16c3c6814a36_win32-2a74b4bd1761</Template>
  <TotalTime>62</TotalTime>
  <Words>512</Words>
  <Application>Microsoft Office PowerPoint</Application>
  <PresentationFormat>宽屏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 UI</vt:lpstr>
      <vt:lpstr>Arial</vt:lpstr>
      <vt:lpstr>Times New Roman</vt:lpstr>
      <vt:lpstr>自定义</vt:lpstr>
      <vt:lpstr>ECE2071 Project</vt:lpstr>
      <vt:lpstr> Introduction and project task overview</vt:lpstr>
      <vt:lpstr>Task 1 (MVP)</vt:lpstr>
      <vt:lpstr>Task 1 (MVP)</vt:lpstr>
      <vt:lpstr>Task 2 </vt:lpstr>
      <vt:lpstr>Task 1 (MVP)</vt:lpstr>
      <vt:lpstr>Task 1 (MVP)</vt:lpstr>
      <vt:lpstr>导航问答环节</vt:lpstr>
      <vt:lpstr>演讲的影响力</vt:lpstr>
      <vt:lpstr>活力演讲</vt:lpstr>
      <vt:lpstr>最后的提示和要点</vt:lpstr>
      <vt:lpstr>演讲参与度指标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Ziyang Huang</dc:creator>
  <cp:lastModifiedBy>Ziyang Huang</cp:lastModifiedBy>
  <cp:revision>3</cp:revision>
  <dcterms:created xsi:type="dcterms:W3CDTF">2026-05-08T22:49:29Z</dcterms:created>
  <dcterms:modified xsi:type="dcterms:W3CDTF">2026-05-08T23:51:56Z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